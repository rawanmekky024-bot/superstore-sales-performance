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2f286a7-ba48-43c6-a5ab-ab609b3e0d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230368"/>
            <a:ext cx="5532120" cy="109728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22392"/>
            <a:ext cx="48463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26344D"/>
                </a:solidFill>
                <a:latin typeface="Aptos"/>
              </a:defRPr>
            </a:pPr>
            <a:r>
              <a:t>Sales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43016"/>
            <a:ext cx="5029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76C7A"/>
                </a:solidFill>
                <a:latin typeface="Aptos"/>
              </a:defRPr>
            </a:pPr>
            <a:r>
              <a:t>NEXORA RETAIL GROUP (Fictional)  •  Power BI | Sales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144768"/>
            <a:ext cx="19202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PORTFOLIO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0">
                <a:solidFill>
                  <a:srgbClr val="676C7A"/>
                </a:solidFill>
                <a:latin typeface="Aptos"/>
              </a:defRPr>
            </a:pPr>
            <a:r>
              <a:t>A compact end-to-end retail analytics case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37360"/>
            <a:ext cx="457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F8A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>
                <a:solidFill>
                  <a:srgbClr val="26344D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76C7A"/>
                </a:solidFill>
                <a:latin typeface="Aptos"/>
              </a:defRPr>
            </a:pPr>
            <a:r>
              <a:t>Clean and standardize the retail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737360"/>
            <a:ext cx="457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8E7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02996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>
                <a:solidFill>
                  <a:srgbClr val="26344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423160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76C7A"/>
                </a:solidFill>
                <a:latin typeface="Aptos"/>
              </a:defRPr>
            </a:pPr>
            <a:r>
              <a:t>Build a reusable star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737360"/>
            <a:ext cx="457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8C44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02996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>
                <a:solidFill>
                  <a:srgbClr val="26344D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423160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76C7A"/>
                </a:solidFill>
                <a:latin typeface="Aptos"/>
              </a:defRPr>
            </a:pPr>
            <a:r>
              <a:t>Create DAX KPIs and comparisons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1737360"/>
            <a:ext cx="457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FA2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02996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>
                <a:solidFill>
                  <a:srgbClr val="26344D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423160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76C7A"/>
                </a:solidFill>
                <a:latin typeface="Aptos"/>
              </a:defRPr>
            </a:pPr>
            <a:r>
              <a:t>Communicate findings in Power 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29000"/>
            <a:ext cx="110642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75887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24528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8A2A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53128"/>
            <a:ext cx="4709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6344D"/>
                </a:solidFill>
                <a:latin typeface="Aptos"/>
              </a:defRPr>
            </a:pPr>
            <a:r>
              <a:t>U.S. retail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224528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8A2A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53128"/>
            <a:ext cx="4709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6344D"/>
                </a:solidFill>
                <a:latin typeface="Aptos"/>
              </a:defRPr>
            </a:pPr>
            <a:r>
              <a:t>2015–2018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8A2A"/>
                </a:solidFill>
                <a:latin typeface="Aptos"/>
              </a:defRPr>
            </a:pPr>
            <a:r>
              <a:t>ROWS /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4709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6344D"/>
                </a:solidFill>
                <a:latin typeface="Aptos"/>
              </a:defRPr>
            </a:pPr>
            <a:r>
              <a:t>9,800 /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937760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FF8A2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166360"/>
            <a:ext cx="4709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6344D"/>
                </a:solidFill>
                <a:latin typeface="Aptos"/>
              </a:defRPr>
            </a:pPr>
            <a:r>
              <a:t>Sales • Customers • Products • Segments • Regions • Shipping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Data Preparation &amp;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0">
                <a:solidFill>
                  <a:srgbClr val="676C7A"/>
                </a:solidFill>
                <a:latin typeface="Aptos"/>
              </a:defRPr>
            </a:pPr>
            <a:r>
              <a:t>From raw rows to an analysis-ready star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737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755648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>
                <a:solidFill>
                  <a:srgbClr val="26344D"/>
                </a:solidFill>
                <a:latin typeface="Aptos"/>
              </a:defRPr>
            </a:pPr>
            <a:r>
              <a:t>Raw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148840"/>
            <a:ext cx="1463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676C7A"/>
                </a:solidFill>
                <a:latin typeface="Aptos"/>
              </a:defRPr>
            </a:pPr>
            <a:r>
              <a:t>9,800 rows</a:t>
            </a:r>
            <a:br/>
            <a:r>
              <a:t>18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93392"/>
            <a:ext cx="25603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26344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1554480"/>
            <a:ext cx="1737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1755648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>
                <a:solidFill>
                  <a:srgbClr val="26344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2148840"/>
            <a:ext cx="1463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676C7A"/>
                </a:solidFill>
                <a:latin typeface="Aptos"/>
              </a:defRPr>
            </a:pPr>
            <a:r>
              <a:t>Types • text</a:t>
            </a:r>
            <a:br/>
            <a:r>
              <a:t>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93392"/>
            <a:ext cx="25603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8A2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54480"/>
            <a:ext cx="1737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5" y="1755648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>
                <a:solidFill>
                  <a:srgbClr val="26344D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5" y="2148840"/>
            <a:ext cx="1463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676C7A"/>
                </a:solidFill>
                <a:latin typeface="Aptos"/>
              </a:defRPr>
            </a:pPr>
            <a:r>
              <a:t>Shipping Days</a:t>
            </a:r>
            <a:br/>
            <a:r>
              <a:t>Product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5603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8E7C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554480"/>
            <a:ext cx="17373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5" y="1755648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>
                <a:solidFill>
                  <a:srgbClr val="26344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5" y="2148840"/>
            <a:ext cx="14630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676C7A"/>
                </a:solidFill>
                <a:latin typeface="Aptos"/>
              </a:defRPr>
            </a:pPr>
            <a:r>
              <a:t>Duplicates • quality</a:t>
            </a:r>
            <a:br/>
            <a:r>
              <a:t>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46120"/>
            <a:ext cx="110642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11296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Star schema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2240280" cy="548640"/>
          </a:xfrm>
          <a:prstGeom prst="roundRect">
            <a:avLst/>
          </a:prstGeom>
          <a:solidFill>
            <a:srgbClr val="EEEB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242816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6344D"/>
                </a:solidFill>
                <a:latin typeface="Aptos"/>
              </a:defRPr>
            </a:pPr>
            <a:r>
              <a:t>DimCustomer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443983"/>
            <a:ext cx="2011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676C7A"/>
                </a:solidFill>
                <a:latin typeface="Aptos"/>
              </a:defRPr>
            </a:pPr>
            <a:r>
              <a:t>793 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28032"/>
            <a:ext cx="2240280" cy="54864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F8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910328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6344D"/>
                </a:solidFill>
                <a:latin typeface="Aptos"/>
              </a:defRPr>
            </a:pPr>
            <a:r>
              <a:t>DimProduct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2011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676C7A"/>
                </a:solidFill>
                <a:latin typeface="Aptos"/>
              </a:defRPr>
            </a:pPr>
            <a:r>
              <a:t>1,893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160520"/>
            <a:ext cx="2240280" cy="54864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FF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7" y="4242816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6344D"/>
                </a:solidFill>
                <a:latin typeface="Aptos"/>
              </a:defRPr>
            </a:pPr>
            <a:r>
              <a:t>DimDate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4443983"/>
            <a:ext cx="2011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676C7A"/>
                </a:solidFill>
                <a:latin typeface="Aptos"/>
              </a:defRPr>
            </a:pPr>
            <a:r>
              <a:t>Dedicated date 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133087"/>
            <a:ext cx="2834640" cy="1078992"/>
          </a:xfrm>
          <a:prstGeom prst="roundRect">
            <a:avLst/>
          </a:prstGeom>
          <a:solidFill>
            <a:srgbClr val="26344D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4334256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FactSales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681728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Orders • Sales • Shipping • Geography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154680" y="4434840"/>
            <a:ext cx="1417320" cy="91440"/>
          </a:xfrm>
          <a:prstGeom prst="line">
            <a:avLst/>
          </a:prstGeom>
          <a:ln w="19050">
            <a:solidFill>
              <a:srgbClr val="67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54680" y="4754880"/>
            <a:ext cx="1417320" cy="347472"/>
          </a:xfrm>
          <a:prstGeom prst="line">
            <a:avLst/>
          </a:prstGeom>
          <a:ln w="19050">
            <a:solidFill>
              <a:srgbClr val="67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406640" y="4434840"/>
            <a:ext cx="914400" cy="137160"/>
          </a:xfrm>
          <a:prstGeom prst="line">
            <a:avLst/>
          </a:prstGeom>
          <a:ln w="19050">
            <a:solidFill>
              <a:srgbClr val="67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5513832"/>
            <a:ext cx="102412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676C7A"/>
                </a:solidFill>
                <a:latin typeface="Aptos"/>
              </a:defRPr>
            </a:pPr>
            <a:r>
              <a:t>11 missing Postal Code values were replaced with “Unknown”; Shipping Days = Ship Date − Order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KPI &amp; DAX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0">
                <a:solidFill>
                  <a:srgbClr val="676C7A"/>
                </a:solidFill>
                <a:latin typeface="Aptos"/>
              </a:defRPr>
            </a:pPr>
            <a:r>
              <a:t>Five core measures anchor the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46504"/>
            <a:ext cx="172821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1728216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FF8A2A"/>
                </a:solidFill>
                <a:latin typeface="Aptos"/>
              </a:defRPr>
            </a:pPr>
            <a:r>
              <a:t>$2.26M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64008" cy="1024128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60020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1746504"/>
            <a:ext cx="172821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993392"/>
            <a:ext cx="1728216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8E7CFF"/>
                </a:solidFill>
                <a:latin typeface="Aptos"/>
              </a:defRPr>
            </a:pPr>
            <a:r>
              <a:t>4,922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1600200"/>
            <a:ext cx="64008" cy="1024128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160020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1746504"/>
            <a:ext cx="172821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TOTAL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993392"/>
            <a:ext cx="1728216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26344D"/>
                </a:solidFill>
                <a:latin typeface="Aptos"/>
              </a:defRPr>
            </a:pPr>
            <a:r>
              <a:t>793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600200"/>
            <a:ext cx="64008" cy="1024128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60020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1746504"/>
            <a:ext cx="172821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1993392"/>
            <a:ext cx="1728216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F8C44F"/>
                </a:solidFill>
                <a:latin typeface="Aptos"/>
              </a:defRPr>
            </a:pPr>
            <a:r>
              <a:t>$459.48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600200"/>
            <a:ext cx="64008" cy="1024128"/>
          </a:xfrm>
          <a:prstGeom prst="rect">
            <a:avLst/>
          </a:prstGeom>
          <a:solidFill>
            <a:srgbClr val="F8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160020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1746504"/>
            <a:ext cx="172821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AVERAGE SHIPPING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1993392"/>
            <a:ext cx="1728216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FFA26B"/>
                </a:solidFill>
                <a:latin typeface="Aptos"/>
              </a:defRPr>
            </a:pPr>
            <a:r>
              <a:t>3.96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600200"/>
            <a:ext cx="64008" cy="1024128"/>
          </a:xfrm>
          <a:prstGeom prst="rect">
            <a:avLst/>
          </a:prstGeom>
          <a:solidFill>
            <a:srgbClr val="FF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971800"/>
            <a:ext cx="11064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24612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Measure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794760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794760"/>
            <a:ext cx="3200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26344D"/>
                </a:solidFill>
                <a:latin typeface="Aptos"/>
              </a:defRPr>
            </a:pPr>
            <a:r>
              <a:t>SUM(FactSales[Sales])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94760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3794760"/>
            <a:ext cx="3200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26344D"/>
                </a:solidFill>
                <a:latin typeface="Aptos"/>
              </a:defRPr>
            </a:pPr>
            <a:r>
              <a:t>DISTINCTCOUNT(FactSales[Order ID])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315968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Total Customers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315968"/>
            <a:ext cx="3200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26344D"/>
                </a:solidFill>
                <a:latin typeface="Aptos"/>
              </a:defRPr>
            </a:pPr>
            <a:r>
              <a:t>DISTINCTCOUNT(FactSales[Customer ID])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315968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4315968"/>
            <a:ext cx="3200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26344D"/>
                </a:solidFill>
                <a:latin typeface="Aptos"/>
              </a:defRPr>
            </a:pPr>
            <a:r>
              <a:t>DIVIDE([Total Sales],[Total Orders])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3717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Avg Shipping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837176"/>
            <a:ext cx="3200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26344D"/>
                </a:solidFill>
                <a:latin typeface="Aptos"/>
              </a:defRPr>
            </a:pPr>
            <a:r>
              <a:t>AVERAGE(FactSales[Shipping Days])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212080"/>
            <a:ext cx="28346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1">
                <a:solidFill>
                  <a:srgbClr val="676C7A"/>
                </a:solidFill>
                <a:latin typeface="Aptos"/>
              </a:defRPr>
            </a:pPr>
            <a:r>
              <a:t>Validated against the project dashboard totals.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Sales &amp; 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424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0">
                <a:solidFill>
                  <a:srgbClr val="676C7A"/>
                </a:solidFill>
                <a:latin typeface="Aptos"/>
              </a:defRPr>
            </a:pPr>
            <a:r>
              <a:t>Observed sales patterns across time, categories and sub-categories.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623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43" y="1481328"/>
            <a:ext cx="4420552" cy="20208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41732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481328"/>
            <a:ext cx="4041648" cy="2020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3794760"/>
            <a:ext cx="6446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982" y="3858768"/>
            <a:ext cx="1961834" cy="220370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69480" y="3794760"/>
            <a:ext cx="4343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069080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26344D"/>
                </a:solidFill>
                <a:latin typeface="Aptos"/>
              </a:defRPr>
            </a:pPr>
            <a:r>
              <a:t>Verified product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526280"/>
            <a:ext cx="1325880" cy="347472"/>
          </a:xfrm>
          <a:prstGeom prst="round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55371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8E7CFF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562856"/>
            <a:ext cx="2240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676C7A"/>
                </a:solidFill>
                <a:latin typeface="Aptos"/>
              </a:defRPr>
            </a:pPr>
            <a:r>
              <a:t>Highest-performing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910328"/>
            <a:ext cx="13258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937760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8C44F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946904"/>
            <a:ext cx="2240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676C7A"/>
                </a:solidFill>
                <a:latin typeface="Aptos"/>
              </a:defRPr>
            </a:pPr>
            <a:r>
              <a:t>Second in category ranking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5294376"/>
            <a:ext cx="13258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5321808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8A2A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330952"/>
            <a:ext cx="2240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676C7A"/>
                </a:solidFill>
                <a:latin typeface="Aptos"/>
              </a:defRPr>
            </a:pPr>
            <a:r>
              <a:t>Third in category ranking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5678424"/>
            <a:ext cx="13258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5705856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A26B"/>
                </a:solidFill>
                <a:latin typeface="Aptos"/>
              </a:defRPr>
            </a:pPr>
            <a:r>
              <a:t>Phones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715000"/>
            <a:ext cx="2240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676C7A"/>
                </a:solidFill>
                <a:latin typeface="Aptos"/>
              </a:defRPr>
            </a:pPr>
            <a:r>
              <a:t>Top sub-category in the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Customer &amp; Regional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0">
                <a:solidFill>
                  <a:srgbClr val="676C7A"/>
                </a:solidFill>
                <a:latin typeface="Aptos"/>
              </a:defRPr>
            </a:pPr>
            <a:r>
              <a:t>Who contributes to sales — and where?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532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1481328"/>
            <a:ext cx="4773168" cy="23865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1417320"/>
            <a:ext cx="5349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xora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1481328"/>
            <a:ext cx="4114799" cy="23865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4206240"/>
            <a:ext cx="11064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26344D"/>
                </a:solidFill>
                <a:latin typeface="Aptos"/>
              </a:defRPr>
            </a:pPr>
            <a:r>
              <a:t>Customer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4663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676C7A"/>
                </a:solidFill>
                <a:latin typeface="Aptos"/>
              </a:defRPr>
            </a:pPr>
            <a:r>
              <a:t>Consumer is the largest segment in the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48056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26344D"/>
                </a:solidFill>
                <a:latin typeface="Aptos"/>
              </a:defRPr>
            </a:pPr>
            <a:r>
              <a:t>Regional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882896"/>
            <a:ext cx="1097280" cy="347472"/>
          </a:xfrm>
          <a:prstGeom prst="round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910328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8E7CFF"/>
                </a:solidFill>
                <a:latin typeface="Aptos"/>
              </a:defRPr>
            </a:pPr>
            <a:r>
              <a:t>1  West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882896"/>
            <a:ext cx="10972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910328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8C44F"/>
                </a:solidFill>
                <a:latin typeface="Aptos"/>
              </a:defRPr>
            </a:pPr>
            <a:r>
              <a:t>2  East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882896"/>
            <a:ext cx="10972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910328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A26B"/>
                </a:solidFill>
                <a:latin typeface="Aptos"/>
              </a:defRPr>
            </a:pPr>
            <a:r>
              <a:t>3  Central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4882896"/>
            <a:ext cx="109728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910328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8A2A"/>
                </a:solidFill>
                <a:latin typeface="Aptos"/>
              </a:defRPr>
            </a:pPr>
            <a:r>
              <a:t>4  South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Category × Region &amp; Shipping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676C7A"/>
                </a:solidFill>
                <a:latin typeface="Aptos"/>
              </a:defRPr>
            </a:pPr>
            <a:r>
              <a:t>Two complementary views: cross-region category comparison and shipping duration.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6537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Category ×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7627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8A2A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7627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17627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17627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South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17627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West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51760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26344D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51760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160,317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2651760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206,461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2651760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116,531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651760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035808"/>
            <a:ext cx="5806440" cy="7315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64991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26344D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364991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163,590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3364991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199,941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3364991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124,425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3364991"/>
            <a:ext cx="1005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26344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749039"/>
            <a:ext cx="5806440" cy="7315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15968"/>
            <a:ext cx="580644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676C7A"/>
                </a:solidFill>
                <a:latin typeface="Aptos"/>
              </a:defRPr>
            </a:pPr>
            <a:r>
              <a:t>The visible project matrix supports direct category/region comparison; “—” is intentionally left where the supplied screenshot did not show a West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4297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616267"/>
            <a:ext cx="4169664" cy="202526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15200" y="3977639"/>
            <a:ext cx="4297680" cy="1874519"/>
          </a:xfrm>
          <a:prstGeom prst="roundRect">
            <a:avLst/>
          </a:prstGeom>
          <a:solidFill>
            <a:srgbClr val="EEEB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25196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Shipping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681728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645152"/>
            <a:ext cx="1188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8E7CFF"/>
                </a:solidFill>
                <a:latin typeface="Aptos"/>
              </a:defRPr>
            </a:pPr>
            <a:r>
              <a:t>0–7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07492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76C7A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038344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8A2A"/>
                </a:solidFill>
                <a:latin typeface="Aptos"/>
              </a:defRPr>
            </a:pPr>
            <a:r>
              <a:t>3.96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Power BI Dashboard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676C7A"/>
                </a:solidFill>
                <a:latin typeface="Aptos"/>
              </a:defRPr>
            </a:pPr>
            <a:r>
              <a:t>The dashboard combines KPI cards, trends, product, segment and geography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8046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70723"/>
            <a:ext cx="7918704" cy="44194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915400" y="1600200"/>
            <a:ext cx="242316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62763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8A2A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240280"/>
            <a:ext cx="2423160" cy="347472"/>
          </a:xfrm>
          <a:prstGeom prst="round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26771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8E7CFF"/>
                </a:solidFill>
                <a:latin typeface="Aptos"/>
              </a:defRPr>
            </a:pPr>
            <a:r>
              <a:t>Sales 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880360"/>
            <a:ext cx="242316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907791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8C44F"/>
                </a:solidFill>
                <a:latin typeface="Aptos"/>
              </a:defRPr>
            </a:pPr>
            <a:r>
              <a:t>Product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520440"/>
            <a:ext cx="242316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354787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A26B"/>
                </a:solidFill>
                <a:latin typeface="Aptos"/>
              </a:defRPr>
            </a:pPr>
            <a:r>
              <a:t>Segment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4160520"/>
            <a:ext cx="242316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18795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Regional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800600"/>
            <a:ext cx="2423160" cy="347472"/>
          </a:xfrm>
          <a:prstGeom prst="round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482803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8E7CFF"/>
                </a:solidFill>
                <a:latin typeface="Aptos"/>
              </a:defRPr>
            </a:pPr>
            <a:r>
              <a:t>Interactive slicers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5440680"/>
            <a:ext cx="2331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676C7A"/>
                </a:solidFill>
                <a:latin typeface="Aptos"/>
              </a:defRPr>
            </a:pPr>
            <a:r>
              <a:t>The supplied dashboard screenshot is shown at full aspect ratio to avoid cropping.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Interactivity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8803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6344D"/>
                </a:solidFill>
                <a:latin typeface="Aptos"/>
              </a:defRPr>
            </a:pPr>
            <a:r>
              <a:t>Interactive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57400"/>
            <a:ext cx="23317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xora_slic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095" y="2121408"/>
            <a:ext cx="719449" cy="2569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98348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F8A2A"/>
                </a:solidFill>
                <a:latin typeface="Aptos"/>
              </a:defRPr>
            </a:pPr>
            <a:r>
              <a:t>Available slicers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21808"/>
            <a:ext cx="1143000" cy="347472"/>
          </a:xfrm>
          <a:prstGeom prst="round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632704"/>
            <a:ext cx="114300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60136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943600"/>
            <a:ext cx="1143000" cy="347472"/>
          </a:xfrm>
          <a:prstGeom prst="round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71032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26344D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417320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26344D"/>
                </a:solidFill>
                <a:latin typeface="Aptos"/>
              </a:defRPr>
            </a:pPr>
            <a:r>
              <a:t>Key data observations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187451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202082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FF8A2A"/>
                </a:solidFill>
                <a:latin typeface="Aptos"/>
              </a:defRPr>
            </a:pPr>
            <a:r>
              <a:t>$2.26M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05740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87451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02082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8E7CFF"/>
                </a:solidFill>
                <a:latin typeface="Aptos"/>
              </a:defRPr>
            </a:pPr>
            <a:r>
              <a:t>4,922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05740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Distinct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292607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307238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FF8A2A"/>
                </a:solidFill>
                <a:latin typeface="Aptos"/>
              </a:defRPr>
            </a:pPr>
            <a:r>
              <a:t>793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10896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Distinct customers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92607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307238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8E7CFF"/>
                </a:solidFill>
                <a:latin typeface="Aptos"/>
              </a:defRPr>
            </a:pPr>
            <a:r>
              <a:t>$459.48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10896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397763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412394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FF8A2A"/>
                </a:solidFill>
                <a:latin typeface="Aptos"/>
              </a:defRPr>
            </a:pPr>
            <a:r>
              <a:t>3.96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16052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Average shipping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977639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412394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8E7CFF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16052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Highest category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5029200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517550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FF8A2A"/>
                </a:solidFill>
                <a:latin typeface="Aptos"/>
              </a:defRPr>
            </a:pPr>
            <a:r>
              <a:t>Consumer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521208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Largest segment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5029200"/>
            <a:ext cx="3337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16952" y="5175504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8E7CFF"/>
                </a:solidFill>
                <a:latin typeface="Aptos"/>
              </a:defRPr>
            </a:pPr>
            <a:r>
              <a:t>West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12080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76C7A"/>
                </a:solidFill>
                <a:latin typeface="Aptos"/>
              </a:defRPr>
            </a:pPr>
            <a:r>
              <a:t>Highest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44D"/>
                </a:solidFill>
                <a:latin typeface="Aptos Display"/>
              </a:defRPr>
            </a:pPr>
            <a:r>
              <a:t>Final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5661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A2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E0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C7A"/>
                </a:solidFill>
                <a:latin typeface="Aptos"/>
              </a:defRPr>
            </a:pPr>
            <a:r>
              <a:t>NEXORA RETAIL GROUP • Fictional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344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0">
                <a:solidFill>
                  <a:srgbClr val="676C7A"/>
                </a:solidFill>
                <a:latin typeface="Aptos"/>
              </a:defRPr>
            </a:pPr>
            <a:r>
              <a:t>A complete Power BI workflow — presented as a portfolio case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5420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47088"/>
            <a:ext cx="2148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FF8A2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76C7A"/>
                </a:solidFill>
                <a:latin typeface="Aptos"/>
              </a:defRPr>
            </a:pPr>
            <a:r>
              <a:t>Transformed and validated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00200"/>
            <a:ext cx="25420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847088"/>
            <a:ext cx="2148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8E7C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6771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76C7A"/>
                </a:solidFill>
                <a:latin typeface="Aptos"/>
              </a:defRPr>
            </a:pPr>
            <a:r>
              <a:t>Structured star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00200"/>
            <a:ext cx="25420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847088"/>
            <a:ext cx="2148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F8C44F"/>
                </a:solidFill>
                <a:latin typeface="Aptos"/>
              </a:defRPr>
            </a:pPr>
            <a:r>
              <a:t>DAX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26771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76C7A"/>
                </a:solidFill>
                <a:latin typeface="Aptos"/>
              </a:defRPr>
            </a:pPr>
            <a:r>
              <a:t>Core KPI measures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00200"/>
            <a:ext cx="25420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847088"/>
            <a:ext cx="2148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FFA26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26771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676C7A"/>
                </a:solidFill>
                <a:latin typeface="Aptos"/>
              </a:defRPr>
            </a:pPr>
            <a:r>
              <a:t>Interactive sales storytelling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11064240" cy="1417320"/>
          </a:xfrm>
          <a:prstGeom prst="roundRect">
            <a:avLst/>
          </a:prstGeom>
          <a:solidFill>
            <a:srgbClr val="26344D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06908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8A2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406908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8A2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80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06908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8A2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069080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440680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676C7A"/>
                </a:solidFill>
                <a:latin typeface="Aptos"/>
              </a:defRPr>
            </a:pPr>
            <a:r>
              <a:t>Power BI  •  Power Query  •  DAX  •  Data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897880"/>
            <a:ext cx="3017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26344D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