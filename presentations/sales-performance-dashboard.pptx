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Plus Jakarta Sans"/>
      <ns0:bold ns1:id="rIdFont26"/>
      <ns0:regular ns1:id="rIdFont2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Font26" Type="http://schemas.openxmlformats.org/officeDocument/2006/relationships/font" Target="fonts/90325b05-82c4-4d5e-85f1-5c9b6a921064.fntdata" /><ns0:Relationship Id="rIdFont27" Type="http://schemas.openxmlformats.org/officeDocument/2006/relationships/font" Target="fonts/30ee356d-35d9-45a1-a744-a8b49a36765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34121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4130873"/>
            <a:ext cx="3009900" cy="419100"/>
          </a:xfrm>
          <a:prstGeom prst="roundRect">
            <a:avLst>
              <a:gd name="adj" fmla="val 18181"/>
            </a:avLst>
          </a:prstGeom>
          <a:solidFill>
            <a:srgbClr val="10243E"/>
          </a:solidFill>
          <a:ln w="9525">
            <a:solidFill>
              <a:srgbClr val="1946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17452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Sales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83173"/>
            <a:ext cx="11277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lus Jakarta Sans"/>
              </a:rPr>
              <a:t>NEXORA RETAIL GROUP 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(Fictional Company Portfolio Project)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07877"/>
            <a:ext cx="32027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POWER BI | SALES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4254698"/>
            <a:ext cx="3262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Transform → Model → Analyze → Visualize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571750"/>
            <a:ext cx="5448300" cy="2676525"/>
          </a:xfrm>
          <a:prstGeom prst="roundRect">
            <a:avLst>
              <a:gd name="adj" fmla="val 56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471737"/>
            <a:ext cx="4762500" cy="13430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005262"/>
            <a:ext cx="4762500" cy="13430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471737"/>
            <a:ext cx="38100" cy="1343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005262"/>
            <a:ext cx="38100" cy="13430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24600" y="33813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600" y="38004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600" y="42195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24600" y="46386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PORTFOLIO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914650"/>
            <a:ext cx="5867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Analytical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662237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2938462"/>
            <a:ext cx="4362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Build an end-to-end Power BI analytics solution to evaluate retail sales performance, customer segments, and regional drivers.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195762"/>
            <a:ext cx="5600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Dataset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471987"/>
            <a:ext cx="43624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Comprehensive U.S. retail transactions covering sales, orders, customer profiles, product hierarchies, and shipping logistics.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725" y="33813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3700" y="3414712"/>
            <a:ext cx="4512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Transform: Power Query data cleaning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725" y="38004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3700" y="3833812"/>
            <a:ext cx="4226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Model: Star Schema with dedicated Date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725" y="42195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3700" y="4252912"/>
            <a:ext cx="3595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Analyze: DAX measures &amp; KPI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725" y="4638675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4672012"/>
            <a:ext cx="3786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Plus Jakarta Sans"/>
              </a:rPr>
              <a:t>Visualize: Interactive executive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667375"/>
            <a:ext cx="106680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33675"/>
            <a:ext cx="340355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33675"/>
            <a:ext cx="340355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33675"/>
            <a:ext cx="340355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Dataset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837" y="3009900"/>
            <a:ext cx="356387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Plus Jakarta Sans"/>
              </a:rPr>
              <a:t>9,800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37" y="3590925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Total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837" y="3829050"/>
            <a:ext cx="3563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Transaction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3987" y="3009900"/>
            <a:ext cx="356387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Plus Jakarta San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987" y="3590925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3987" y="3829050"/>
            <a:ext cx="3563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Attributes per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8" y="3009900"/>
            <a:ext cx="3563875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284C7"/>
                </a:solidFill>
                <a:latin typeface="Plus Jakarta Sans"/>
              </a:rPr>
              <a:t>2015–18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8" y="3590925"/>
            <a:ext cx="35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Plus Jakarta Sans"/>
              </a:rPr>
              <a:t>Time 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8" y="3829050"/>
            <a:ext cx="3563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4 years of sales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5857875"/>
            <a:ext cx="13430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Core Attributes: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0775" y="5857875"/>
            <a:ext cx="1797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Order Date &amp; Ship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850" y="5857875"/>
            <a:ext cx="1371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Customer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0" y="5857875"/>
            <a:ext cx="1419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Product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2775" y="5857875"/>
            <a:ext cx="1512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Geography &amp;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90837"/>
            <a:ext cx="178683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86980" y="2890837"/>
            <a:ext cx="178683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1960" y="2890837"/>
            <a:ext cx="178683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36941" y="2890837"/>
            <a:ext cx="1786830" cy="771525"/>
          </a:xfrm>
          <a:prstGeom prst="roundRect">
            <a:avLst>
              <a:gd name="adj" fmla="val 12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61921" y="2900362"/>
            <a:ext cx="1767780" cy="752475"/>
          </a:xfrm>
          <a:prstGeom prst="roundRect">
            <a:avLst>
              <a:gd name="adj" fmla="val 12658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929062"/>
            <a:ext cx="52197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3929062"/>
            <a:ext cx="5219700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3929062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929062"/>
            <a:ext cx="38100" cy="100012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230" y="320516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210" y="32051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191" y="320516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171" y="3205162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DATA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Transformation &amp; 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677" y="3090862"/>
            <a:ext cx="17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Raw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77" y="3309937"/>
            <a:ext cx="1733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CSV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3657" y="3090862"/>
            <a:ext cx="17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3657" y="3309937"/>
            <a:ext cx="1733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Types &amp; Nulls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638" y="3090862"/>
            <a:ext cx="17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638" y="3309937"/>
            <a:ext cx="1733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Keys &amp; Shipping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3618" y="3090862"/>
            <a:ext cx="17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3618" y="3309937"/>
            <a:ext cx="1733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Quality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9074" y="3090862"/>
            <a:ext cx="1733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Plus Jakarta Sans"/>
              </a:rPr>
              <a:t>Analysis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9074" y="3309937"/>
            <a:ext cx="17334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E0F2FE"/>
                </a:solidFill>
                <a:latin typeface="Plus Jakarta Sans"/>
              </a:rPr>
              <a:t>Star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4119562"/>
            <a:ext cx="6200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Cleaning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4376737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Handled missing values, corrected data types, and isolated 11 missing Postal Code entries for data quality compliance.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4119562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Calculated Attributes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4376737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Engineered Shipping Days from Order Date and Ship Date, and generated Product Keys for reliable dimensional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123682" y="3276600"/>
            <a:ext cx="5306317" cy="1266825"/>
          </a:xfrm>
          <a:prstGeom prst="roundRect">
            <a:avLst>
              <a:gd name="adj" fmla="val 90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00375"/>
            <a:ext cx="3913882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657600"/>
            <a:ext cx="3913882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314825"/>
            <a:ext cx="3913882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482" y="3686175"/>
            <a:ext cx="2286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Modeling (Star Schema)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4982" y="3990975"/>
            <a:ext cx="895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1-to-Many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1392" y="3581400"/>
            <a:ext cx="587089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8BDF8"/>
                </a:solidFill>
                <a:latin typeface="Plus Jakarta Sans"/>
              </a:rPr>
              <a:t>FactSales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392" y="3895725"/>
            <a:ext cx="58708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Active Relationship: Order Date</a:t>
            </a:r>
            <a:r>
              <a:t>
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Inactive Relationship: Ship Date available for logistics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170" y="3162300"/>
            <a:ext cx="44875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DimCustomer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70" y="3819525"/>
            <a:ext cx="44875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DimProduct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70" y="4476750"/>
            <a:ext cx="44875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DimDate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62250"/>
            <a:ext cx="5153025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43625" y="2347912"/>
            <a:ext cx="5286375" cy="3124200"/>
          </a:xfrm>
          <a:prstGeom prst="roundRect">
            <a:avLst>
              <a:gd name="adj" fmla="val 36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CALCULATIONS &amp;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DAX Measures &amp; KPI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00375"/>
            <a:ext cx="613826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Core DAX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35280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Total Sales: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SUM(Sales)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7665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Total Orders: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DISTINCTCOUNT(Order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00050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Total Customers: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DISTINCTCOUNT(Customer 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32435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Average Order Value: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Total Sales / 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648200"/>
            <a:ext cx="5845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Average Shipping Days: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AVERAGE(Shipping Days)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2652712"/>
            <a:ext cx="5743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Validated KPI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062287"/>
            <a:ext cx="101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Total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3700" y="3062287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$2.26M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538537"/>
            <a:ext cx="112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7050" y="3538537"/>
            <a:ext cx="723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4,922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014787"/>
            <a:ext cx="1419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Total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48975" y="4014787"/>
            <a:ext cx="561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491037"/>
            <a:ext cx="1750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Average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6075" y="4491037"/>
            <a:ext cx="90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$459.48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967287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Average Shipping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1300" y="4967287"/>
            <a:ext cx="1009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3.96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000500"/>
            <a:ext cx="10668000" cy="12096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09850"/>
            <a:ext cx="25241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6625" y="2609850"/>
            <a:ext cx="25241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609850"/>
            <a:ext cx="25241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5875" y="2609850"/>
            <a:ext cx="2524125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000500"/>
            <a:ext cx="38100" cy="12096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Sales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4229100"/>
            <a:ext cx="11087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Baseline Performance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524375"/>
            <a:ext cx="10115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The portfolio dataset reflects strong baseline retail activity with 4,922 distinct orders generating $2.26M in revenue across 793 active customers, maintaining an average transaction value of $459.48.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140" y="2847975"/>
            <a:ext cx="25598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$2.26M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140" y="32861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Total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8765" y="2847975"/>
            <a:ext cx="25598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4,922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8765" y="32861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3390" y="2847975"/>
            <a:ext cx="25598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793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3390" y="32861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Total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8015" y="2847975"/>
            <a:ext cx="25598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284C7"/>
                </a:solidFill>
                <a:latin typeface="Plus Jakarta Sans"/>
              </a:rPr>
              <a:t>$459.48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8015" y="32861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Avg Order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09850"/>
            <a:ext cx="5153025" cy="2600325"/>
          </a:xfrm>
          <a:prstGeom prst="roundRect">
            <a:avLst>
              <a:gd name="adj" fmla="val 43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2585144"/>
            <a:ext cx="5210175" cy="2649735"/>
          </a:xfrm>
          <a:prstGeom prst="roundRect">
            <a:avLst>
              <a:gd name="adj" fmla="val 431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TEMPORAL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Sales Trend Over Time (2015–2018)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2924175"/>
            <a:ext cx="593824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Observed Temporal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33750"/>
            <a:ext cx="4619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Analysis of order dates from 2015 to 2018 indicates consistent seasonal transaction clustering toward the end of each calendar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4210050"/>
            <a:ext cx="46196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Monthly perspective demonstrates stable recurring sales distribution across active business quarters without unexpected anomalies.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928044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Yearly Horizon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4518719"/>
            <a:ext cx="4619625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Data reflects actual recorded sales dates; no forward-looking projections or unverified growth assumptions applied.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404294"/>
            <a:ext cx="11525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Active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394769"/>
            <a:ext cx="1314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2015 —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966269"/>
            <a:ext cx="1631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Observation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2100" y="3966269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Verified Transaction 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7062"/>
            <a:ext cx="34035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267075"/>
            <a:ext cx="34035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67075"/>
            <a:ext cx="34035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PRODUCT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Product &amp; Category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776662"/>
            <a:ext cx="2946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Highest performing category in total sales volume across the portfolio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0375" y="3876675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Solid mid-tier sales performance driven by consistent sub-category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525" y="3876675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High frequency order volume supporting stable foundational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443287"/>
            <a:ext cx="1452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975" y="3443287"/>
            <a:ext cx="6096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Rank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0375" y="3543300"/>
            <a:ext cx="1257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Furniture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8075" y="3543300"/>
            <a:ext cx="6286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Rank 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543300"/>
            <a:ext cx="1869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Office Supplies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0701" y="3543300"/>
            <a:ext cx="6381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Rank #3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5137"/>
            <a:ext cx="5524500" cy="1809750"/>
          </a:xfrm>
          <a:prstGeom prst="roundRect">
            <a:avLst>
              <a:gd name="adj" fmla="val 6315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2938462"/>
            <a:ext cx="491490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4071937"/>
            <a:ext cx="4914900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Customer Segment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309937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0F2FE"/>
                </a:solidFill>
                <a:latin typeface="Plus Jakarta Sans"/>
              </a:rPr>
              <a:t>PRIMARY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557587"/>
            <a:ext cx="645080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Plus Jakarta Sans"/>
              </a:rPr>
              <a:t>Consumer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052887"/>
            <a:ext cx="501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0F9FF"/>
                </a:solidFill>
                <a:latin typeface="Plus Jakarta Sans"/>
              </a:rPr>
              <a:t>Verified as the largest customer segment by order count and total revenue contribution within the retail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138487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Corporate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3376612"/>
            <a:ext cx="4610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Represents significant commercial order volume and strong average order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4271962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Home Office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4510087"/>
            <a:ext cx="547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Specialized buyer group contributing steady niche transaction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86125"/>
            <a:ext cx="25241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6625" y="3286125"/>
            <a:ext cx="25241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86125"/>
            <a:ext cx="25241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05875" y="3286125"/>
            <a:ext cx="2524125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GEOGRAPHIC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Regional Sales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084" y="3514725"/>
            <a:ext cx="2697956" cy="7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Rank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9709" y="3514725"/>
            <a:ext cx="2697956" cy="7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Rank #2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4334" y="3514725"/>
            <a:ext cx="2697956" cy="7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Rank #3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8959" y="3514725"/>
            <a:ext cx="2697956" cy="7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Rank #4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144" y="3800475"/>
            <a:ext cx="26878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140" y="41243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Highest regional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69" y="3800475"/>
            <a:ext cx="26878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8765" y="41243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Strong secondary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9394" y="3800475"/>
            <a:ext cx="26878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3390" y="41243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Consistent mid-tier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4019" y="3800475"/>
            <a:ext cx="268783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South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8015" y="4124325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Developing sales volume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74168"/>
            <a:ext cx="5229225" cy="2071687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2962275"/>
            <a:ext cx="5210175" cy="1895475"/>
          </a:xfrm>
          <a:prstGeom prst="roundRect">
            <a:avLst>
              <a:gd name="adj" fmla="val 603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CROSS-DIMENSIONAL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Category Performance by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150393"/>
            <a:ext cx="613826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Matrix Analysis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83768"/>
            <a:ext cx="47720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Cross-tabulating product categories against U.S. regions reveals Technology maintaining top performance leadership in both the West and East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241006"/>
            <a:ext cx="47720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Furniture and Office Supplies exhibit balanced distribution across Central and South regions in alignment with overall regional rankings.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228975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Key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600450"/>
            <a:ext cx="176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Top Performing Pairing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34575" y="3600450"/>
            <a:ext cx="1535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Technology × West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4010025"/>
            <a:ext cx="1452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Secondary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0" y="4010025"/>
            <a:ext cx="1452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Technology × East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419600"/>
            <a:ext cx="1643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Foundational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0" y="4419600"/>
            <a:ext cx="228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Office Supplies (All Regions)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9900"/>
            <a:ext cx="5495925" cy="1800225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62725" y="2833687"/>
            <a:ext cx="4867275" cy="981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62725" y="4005262"/>
            <a:ext cx="4867275" cy="9810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62725" y="2833687"/>
            <a:ext cx="38100" cy="981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62725" y="4005262"/>
            <a:ext cx="38100" cy="9810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LOGISTICS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Shipping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915" y="3324225"/>
            <a:ext cx="6084093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3.96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15" y="4067175"/>
            <a:ext cx="6084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Average Shipping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15" y="4324350"/>
            <a:ext cx="608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Verified dataset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3024187"/>
            <a:ext cx="5362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Shipping Days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3262312"/>
            <a:ext cx="44672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Observed shipping duration spans from 0 to 7 days across all recorded transactions.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4195762"/>
            <a:ext cx="5362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Logistics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9425" y="4433887"/>
            <a:ext cx="44672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Data directly demonstrates standard fulfillment velocity without speculative claims regarding customer satisfaction.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2011709" cy="1352550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109" y="3238500"/>
            <a:ext cx="2011709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90219" y="3238500"/>
            <a:ext cx="2011709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54329" y="3238500"/>
            <a:ext cx="2011709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439" y="3238500"/>
            <a:ext cx="2011709" cy="1200150"/>
          </a:xfrm>
          <a:prstGeom prst="roundRect">
            <a:avLst>
              <a:gd name="adj" fmla="val 7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PORTFOLIO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819150"/>
            <a:ext cx="1143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352800"/>
            <a:ext cx="172595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INSIGHT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6609" y="3429000"/>
            <a:ext cx="1725959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INSIGHT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0719" y="3429000"/>
            <a:ext cx="1725959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INSIGHT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4829" y="3429000"/>
            <a:ext cx="1725959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INSIGHT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8939" y="3429000"/>
            <a:ext cx="1725959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INSIGHT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619500"/>
            <a:ext cx="211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$2.26M Total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857625"/>
            <a:ext cx="170690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Verified baseline revenue across 4-year retail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6134" y="3695700"/>
            <a:ext cx="211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4,922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6134" y="3933825"/>
            <a:ext cx="170690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Distinct transaction count confirming active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0244" y="3695700"/>
            <a:ext cx="211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Consumer 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0244" y="3933825"/>
            <a:ext cx="170690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Largest customer group by volume and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4354" y="3695700"/>
            <a:ext cx="211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Technology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4354" y="3933825"/>
            <a:ext cx="170690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Highest-performing product category overall.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8464" y="3695700"/>
            <a:ext cx="21153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West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8464" y="3933825"/>
            <a:ext cx="170690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Top-performing regional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514475"/>
            <a:ext cx="10668000" cy="4733925"/>
          </a:xfrm>
          <a:prstGeom prst="roundRect">
            <a:avLst>
              <a:gd name="adj" fmla="val 321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91112" y="4652962"/>
            <a:ext cx="2009775" cy="342900"/>
          </a:xfrm>
          <a:prstGeom prst="roundRect">
            <a:avLst>
              <a:gd name="adj" fmla="val 22222"/>
            </a:avLst>
          </a:prstGeom>
          <a:solidFill>
            <a:srgbClr val="13283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767012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POWER BI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1915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Dashboard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5618" y="3567112"/>
            <a:ext cx="61007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lus Jakarta Sans"/>
              </a:rPr>
              <a:t>Interactive Sales Performance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8812" y="3967162"/>
            <a:ext cx="8334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Designed with clean minimal UI, prominent KPI cards, trend charts, category breakdowns, and regional matrices for recruiter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0390" y="4729162"/>
            <a:ext cx="21312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Power BI Desktop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67050"/>
            <a:ext cx="340355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67050"/>
            <a:ext cx="340355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67050"/>
            <a:ext cx="340355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00" y="3343275"/>
            <a:ext cx="3048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88" y="3343275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689" y="3343275"/>
            <a:ext cx="4286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REPORT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Interactive Analysis &amp; Slicers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740" y="38385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Year Slicer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837" y="4133850"/>
            <a:ext cx="3563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Filter performance dynamically across 2015–2018.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890" y="38385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Region Slicer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3987" y="4133850"/>
            <a:ext cx="3563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Isolate West, East, Central, or South perspectives.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7041" y="38385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Segment Slicer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8" y="4133850"/>
            <a:ext cx="35638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Compare Consumer, Corporate, and Home Office buyers.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3852862"/>
            <a:ext cx="10668000" cy="838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128962"/>
            <a:ext cx="184785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71800" y="3128962"/>
            <a:ext cx="184785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81600" y="3128962"/>
            <a:ext cx="184785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91400" y="3128962"/>
            <a:ext cx="184785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0" y="3138487"/>
            <a:ext cx="1828800" cy="476250"/>
          </a:xfrm>
          <a:prstGeom prst="roundRect">
            <a:avLst>
              <a:gd name="adj" fmla="val 16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3852862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330517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0" y="33051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330517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550" y="3305175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END-TO-END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Analytics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043362"/>
            <a:ext cx="1019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This project demonstrates full competency across the complete Power BI development lifecycle — from raw data ingestion and relational modeling to advanced DAX calculations and executive visualization.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2908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Raw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3225" y="32908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Power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3025" y="32908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Star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2825" y="32908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DAX 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3100" y="3290887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214562"/>
            <a:ext cx="106680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109912"/>
            <a:ext cx="106680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005262"/>
            <a:ext cx="106680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900612"/>
            <a:ext cx="10668000" cy="704850"/>
          </a:xfrm>
          <a:prstGeom prst="roundRect">
            <a:avLst>
              <a:gd name="adj" fmla="val 135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125" y="24145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25" y="33099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0125" y="42052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0125" y="510063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PROJECT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8382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Final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4145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7325" y="2466975"/>
            <a:ext cx="5214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Data was rigorously transformed, cleaned, and validated.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30993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7325" y="3362325"/>
            <a:ext cx="5072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 structured Star Schema architecture was established.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20528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4257675"/>
            <a:ext cx="4810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DAX measures were developed for core KPI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100637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7325" y="5153025"/>
            <a:ext cx="6822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An interactive Power BI dashboard was built to communicate sales insights.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33850" y="3871912"/>
            <a:ext cx="3924300" cy="504825"/>
          </a:xfrm>
          <a:prstGeom prst="roundRect">
            <a:avLst>
              <a:gd name="adj" fmla="val 22641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58282" y="2481262"/>
            <a:ext cx="3475434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6296" y="3300412"/>
            <a:ext cx="667940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Plus Jakarta Sans"/>
              </a:rPr>
              <a:t>Sales Performance Dashboard — Nexora Retail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6218" y="4033837"/>
            <a:ext cx="4119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Plus Jakarta Sans"/>
              </a:rPr>
              <a:t>Power BI | Power Query | DAX | Data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